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3"/>
  </p:notesMasterIdLst>
  <p:handoutMasterIdLst>
    <p:handoutMasterId r:id="rId24"/>
  </p:handoutMasterIdLst>
  <p:sldIdLst>
    <p:sldId id="338" r:id="rId5"/>
    <p:sldId id="327" r:id="rId6"/>
    <p:sldId id="315" r:id="rId7"/>
    <p:sldId id="329" r:id="rId8"/>
    <p:sldId id="302" r:id="rId9"/>
    <p:sldId id="339" r:id="rId10"/>
    <p:sldId id="349" r:id="rId11"/>
    <p:sldId id="340" r:id="rId12"/>
    <p:sldId id="344" r:id="rId13"/>
    <p:sldId id="345" r:id="rId14"/>
    <p:sldId id="346" r:id="rId15"/>
    <p:sldId id="347" r:id="rId16"/>
    <p:sldId id="348" r:id="rId17"/>
    <p:sldId id="341" r:id="rId18"/>
    <p:sldId id="352" r:id="rId19"/>
    <p:sldId id="342" r:id="rId20"/>
    <p:sldId id="343" r:id="rId21"/>
    <p:sldId id="30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7" d="100"/>
          <a:sy n="87" d="100"/>
        </p:scale>
        <p:origin x="432" y="58"/>
      </p:cViewPr>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10/09/2026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10/09/2026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10/09/2026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10/09/2026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fif"/><Relationship Id="rId1" Type="http://schemas.openxmlformats.org/officeDocument/2006/relationships/slideLayout" Target="../slideLayouts/slideLayout18.xml"/><Relationship Id="rId5" Type="http://schemas.openxmlformats.org/officeDocument/2006/relationships/image" Target="../media/image16.jpeg"/><Relationship Id="rId4" Type="http://schemas.openxmlformats.org/officeDocument/2006/relationships/image" Target="../media/image15.jpeg"/></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687572" y="3104621"/>
            <a:ext cx="5223681" cy="917933"/>
          </a:xfrm>
        </p:spPr>
        <p:txBody>
          <a:bodyPr vert="horz" lIns="91440" tIns="45720" rIns="91440" bIns="45720" rtlCol="0" anchor="t">
            <a:normAutofit fontScale="62500" lnSpcReduction="20000"/>
          </a:bodyPr>
          <a:lstStyle/>
          <a:p>
            <a:r>
              <a:rPr lang="en-US" sz="2900" b="0" dirty="0" smtClean="0">
                <a:solidFill>
                  <a:schemeClr val="tx1"/>
                </a:solidFill>
              </a:rPr>
              <a:t>Student Name  </a:t>
            </a:r>
            <a:r>
              <a:rPr lang="en-US" sz="1600" b="0" dirty="0" smtClean="0">
                <a:solidFill>
                  <a:schemeClr val="tx1"/>
                </a:solidFill>
              </a:rPr>
              <a:t>–  </a:t>
            </a:r>
            <a:r>
              <a:rPr lang="en-US" sz="3200" b="0" dirty="0" err="1" smtClean="0">
                <a:solidFill>
                  <a:schemeClr val="tx1"/>
                </a:solidFill>
              </a:rPr>
              <a:t>Mohit</a:t>
            </a:r>
            <a:r>
              <a:rPr lang="en-US" sz="3200" b="0" dirty="0" smtClean="0">
                <a:solidFill>
                  <a:schemeClr val="tx1"/>
                </a:solidFill>
              </a:rPr>
              <a:t> </a:t>
            </a:r>
            <a:r>
              <a:rPr lang="en-US" sz="3200" b="0" dirty="0" err="1" smtClean="0">
                <a:solidFill>
                  <a:schemeClr val="tx1"/>
                </a:solidFill>
              </a:rPr>
              <a:t>sahi</a:t>
            </a:r>
            <a:r>
              <a:rPr lang="en-US" sz="3200" b="0" dirty="0" smtClean="0">
                <a:solidFill>
                  <a:schemeClr val="tx1"/>
                </a:solidFill>
              </a:rPr>
              <a:t> </a:t>
            </a:r>
            <a:endParaRPr lang="en-IN" sz="3200" b="0" dirty="0">
              <a:solidFill>
                <a:schemeClr val="tx1"/>
              </a:solidFill>
            </a:endParaRPr>
          </a:p>
          <a:p>
            <a:r>
              <a:rPr lang="en-US" sz="2600" b="0" dirty="0" smtClean="0">
                <a:solidFill>
                  <a:schemeClr val="tx1"/>
                </a:solidFill>
              </a:rPr>
              <a:t>College Name     </a:t>
            </a:r>
            <a:r>
              <a:rPr lang="en-US" sz="1600" b="0" dirty="0" smtClean="0">
                <a:solidFill>
                  <a:schemeClr val="tx1"/>
                </a:solidFill>
              </a:rPr>
              <a:t>-   </a:t>
            </a:r>
            <a:r>
              <a:rPr lang="en-US" sz="2600" b="0" dirty="0" smtClean="0">
                <a:solidFill>
                  <a:schemeClr val="tx1"/>
                </a:solidFill>
              </a:rPr>
              <a:t>Dr. A.P.J. Abdul </a:t>
            </a:r>
            <a:r>
              <a:rPr lang="en-US" sz="2600" b="0" dirty="0" err="1" smtClean="0">
                <a:solidFill>
                  <a:schemeClr val="tx1"/>
                </a:solidFill>
              </a:rPr>
              <a:t>Kalam</a:t>
            </a:r>
            <a:r>
              <a:rPr lang="en-US" sz="2600" b="0" dirty="0" smtClean="0">
                <a:solidFill>
                  <a:schemeClr val="tx1"/>
                </a:solidFill>
              </a:rPr>
              <a:t> Government Institute of </a:t>
            </a:r>
            <a:r>
              <a:rPr lang="en-US" sz="2600" b="0" dirty="0" err="1" smtClean="0">
                <a:solidFill>
                  <a:schemeClr val="tx1"/>
                </a:solidFill>
              </a:rPr>
              <a:t>Technolgy</a:t>
            </a:r>
            <a:r>
              <a:rPr lang="en-US" sz="2600" b="0" dirty="0" smtClean="0">
                <a:solidFill>
                  <a:schemeClr val="tx1"/>
                </a:solidFill>
              </a:rPr>
              <a:t>, </a:t>
            </a:r>
            <a:r>
              <a:rPr lang="en-US" sz="2600" b="0" dirty="0" err="1" smtClean="0">
                <a:solidFill>
                  <a:schemeClr val="tx1"/>
                </a:solidFill>
              </a:rPr>
              <a:t>Tanakpur</a:t>
            </a:r>
            <a:r>
              <a:rPr lang="en-US" sz="2600" b="0" dirty="0" smtClean="0">
                <a:solidFill>
                  <a:schemeClr val="tx1"/>
                </a:solidFill>
              </a:rPr>
              <a:t>, </a:t>
            </a:r>
            <a:r>
              <a:rPr lang="en-US" sz="2600" b="0" dirty="0" err="1" smtClean="0">
                <a:solidFill>
                  <a:schemeClr val="tx1"/>
                </a:solidFill>
              </a:rPr>
              <a:t>Champawat</a:t>
            </a:r>
            <a:r>
              <a:rPr lang="en-US" sz="2600" b="0" dirty="0" smtClean="0">
                <a:solidFill>
                  <a:schemeClr val="tx1"/>
                </a:solidFill>
              </a:rPr>
              <a:t> </a:t>
            </a:r>
            <a:endParaRPr lang="en-US" sz="2600" dirty="0"/>
          </a:p>
          <a:p>
            <a:endParaRPr lang="en-IN" sz="2600" b="0" dirty="0">
              <a:solidFill>
                <a:schemeClr val="tx1"/>
              </a:solidFill>
            </a:endParaRPr>
          </a:p>
          <a:p>
            <a:pPr algn="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34819" y="1827794"/>
            <a:ext cx="5379536" cy="1486836"/>
          </a:xfrm>
        </p:spPr>
        <p:txBody>
          <a:bodyPr>
            <a:normAutofit/>
          </a:bodyPr>
          <a:lstStyle/>
          <a:p>
            <a:r>
              <a:rPr lang="en-GB" sz="3200" dirty="0"/>
              <a:t>Project Title </a:t>
            </a:r>
            <a:r>
              <a:rPr lang="en-GB" sz="3200" dirty="0" smtClean="0"/>
              <a:t>-</a:t>
            </a:r>
            <a:r>
              <a:rPr lang="en-IN" sz="3200" dirty="0"/>
              <a:t> </a:t>
            </a:r>
            <a:r>
              <a:rPr lang="en-US" sz="2500" dirty="0"/>
              <a:t>Seasonal Agriculture Performance Analysis</a:t>
            </a:r>
            <a:endParaRPr lang="en-IN" sz="25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687572" y="4251154"/>
            <a:ext cx="4467543" cy="646331"/>
          </a:xfrm>
          <a:prstGeom prst="rect">
            <a:avLst/>
          </a:prstGeom>
          <a:noFill/>
        </p:spPr>
        <p:txBody>
          <a:bodyPr wrap="square" rtlCol="0">
            <a:spAutoFit/>
          </a:bodyPr>
          <a:lstStyle/>
          <a:p>
            <a:r>
              <a:rPr lang="en-US" b="1" dirty="0"/>
              <a:t>AICTE STU ID : </a:t>
            </a:r>
            <a:r>
              <a:rPr lang="en-US" b="1" dirty="0" smtClean="0"/>
              <a:t>(STU</a:t>
            </a:r>
            <a:r>
              <a:rPr lang="en-US" sz="1600" b="1" dirty="0" smtClean="0"/>
              <a:t>6a64775ba18a11784969051</a:t>
            </a:r>
            <a:r>
              <a:rPr lang="en-US" b="1" dirty="0" smtClean="0"/>
              <a:t>)</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2102230"/>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a:t>
            </a:r>
            <a:r>
              <a:rPr lang="en-GB" dirty="0" smtClean="0"/>
              <a:t>Description -</a:t>
            </a:r>
            <a:r>
              <a:rPr lang="en-GB" dirty="0"/>
              <a:t/>
            </a:r>
            <a:br>
              <a:rPr lang="en-GB" dirty="0"/>
            </a:br>
            <a:r>
              <a:rPr lang="en-GB" dirty="0" smtClean="0"/>
              <a:t>[</a:t>
            </a:r>
            <a:r>
              <a:rPr lang="en-US" sz="3300" dirty="0"/>
              <a:t>This project analyzes agricultural data across different seasons, crops and geographical regions. It focuses on yield, environmental conditions, resource usage and economic performance to identify useful patterns and trends</a:t>
            </a:r>
            <a:r>
              <a:rPr lang="en-US" sz="3300" dirty="0" smtClean="0"/>
              <a:t>.</a:t>
            </a:r>
            <a:r>
              <a:rPr lang="en-GB" dirty="0" smtClean="0"/>
              <a:t>] </a:t>
            </a:r>
            <a:r>
              <a:rPr lang="en-GB" dirty="0"/>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1" indent="-342900">
              <a:lnSpc>
                <a:spcPct val="150000"/>
              </a:lnSpc>
            </a:pPr>
            <a:r>
              <a:rPr lang="en-US" sz="2400" dirty="0" smtClean="0"/>
              <a:t> Farmers</a:t>
            </a:r>
          </a:p>
          <a:p>
            <a:pPr marL="685800" lvl="1">
              <a:lnSpc>
                <a:spcPct val="150000"/>
              </a:lnSpc>
            </a:pPr>
            <a:r>
              <a:rPr lang="en-US" sz="2400" dirty="0" smtClean="0"/>
              <a:t>  Researchers</a:t>
            </a:r>
          </a:p>
          <a:p>
            <a:pPr lvl="1" indent="-342900">
              <a:lnSpc>
                <a:spcPct val="150000"/>
              </a:lnSpc>
            </a:pPr>
            <a:r>
              <a:rPr lang="en-US" sz="2400" dirty="0" smtClean="0"/>
              <a:t>  </a:t>
            </a:r>
            <a:r>
              <a:rPr lang="en-US" sz="2400" dirty="0"/>
              <a:t>Agriculture </a:t>
            </a:r>
            <a:r>
              <a:rPr lang="en-US" sz="2400" dirty="0" smtClean="0"/>
              <a:t>Departments</a:t>
            </a:r>
          </a:p>
          <a:p>
            <a:pPr lvl="1" indent="-342900">
              <a:lnSpc>
                <a:spcPct val="150000"/>
              </a:lnSpc>
            </a:pPr>
            <a:r>
              <a:rPr lang="en-US" sz="2400" dirty="0" smtClean="0"/>
              <a:t>  Agricultural </a:t>
            </a:r>
            <a:r>
              <a:rPr lang="en-US" sz="2400" dirty="0"/>
              <a:t>Planners</a:t>
            </a:r>
            <a:endParaRPr lang="en-US" sz="2400" dirty="0" smtClean="0"/>
          </a:p>
          <a:p>
            <a:pPr marL="685800" lvl="1">
              <a:lnSpc>
                <a:spcPct val="150000"/>
              </a:lnSpc>
            </a:pPr>
            <a:r>
              <a:rPr lang="en-US" sz="2400" dirty="0" smtClean="0"/>
              <a:t>  Data </a:t>
            </a:r>
            <a:r>
              <a:rPr lang="en-US" sz="2400" dirty="0"/>
              <a:t>Analysts</a:t>
            </a:r>
            <a:endParaRPr lang="en-IN" sz="2400" b="1" dirty="0" smtClean="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animEffect transition="in" filter="fade">
                                      <p:cBhvr>
                                        <p:cTn id="19" dur="1000"/>
                                        <p:tgtEl>
                                          <p:spTgt spid="2">
                                            <p:txEl>
                                              <p:pRg st="1" end="1"/>
                                            </p:txEl>
                                          </p:spTgt>
                                        </p:tgtEl>
                                      </p:cBhvr>
                                    </p:animEffect>
                                    <p:anim calcmode="lin" valueType="num">
                                      <p:cBhvr>
                                        <p:cTn id="20"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xEl>
                                              <p:pRg st="2" end="2"/>
                                            </p:txEl>
                                          </p:spTgt>
                                        </p:tgtEl>
                                        <p:attrNameLst>
                                          <p:attrName>style.visibility</p:attrName>
                                        </p:attrNameLst>
                                      </p:cBhvr>
                                      <p:to>
                                        <p:strVal val="visible"/>
                                      </p:to>
                                    </p:set>
                                    <p:animEffect transition="in" filter="fade">
                                      <p:cBhvr>
                                        <p:cTn id="24" dur="1000"/>
                                        <p:tgtEl>
                                          <p:spTgt spid="2">
                                            <p:txEl>
                                              <p:pRg st="2" end="2"/>
                                            </p:txEl>
                                          </p:spTgt>
                                        </p:tgtEl>
                                      </p:cBhvr>
                                    </p:animEffect>
                                    <p:anim calcmode="lin" valueType="num">
                                      <p:cBhvr>
                                        <p:cTn id="2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fade">
                                      <p:cBhvr>
                                        <p:cTn id="29" dur="1000"/>
                                        <p:tgtEl>
                                          <p:spTgt spid="2">
                                            <p:txEl>
                                              <p:pRg st="3" end="3"/>
                                            </p:txEl>
                                          </p:spTgt>
                                        </p:tgtEl>
                                      </p:cBhvr>
                                    </p:animEffect>
                                    <p:anim calcmode="lin" valueType="num">
                                      <p:cBhvr>
                                        <p:cTn id="3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Effect transition="in" filter="fade">
                                      <p:cBhvr>
                                        <p:cTn id="34" dur="1000"/>
                                        <p:tgtEl>
                                          <p:spTgt spid="2">
                                            <p:txEl>
                                              <p:pRg st="4" end="4"/>
                                            </p:txEl>
                                          </p:spTgt>
                                        </p:tgtEl>
                                      </p:cBhvr>
                                    </p:animEffect>
                                    <p:anim calcmode="lin" valueType="num">
                                      <p:cBhvr>
                                        <p:cTn id="3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lnSpcReduction="10000"/>
          </a:bodyPr>
          <a:lstStyle/>
          <a:p>
            <a:pPr lvl="1">
              <a:lnSpc>
                <a:spcPct val="150000"/>
              </a:lnSpc>
            </a:pPr>
            <a:r>
              <a:rPr lang="en-US" sz="2800" b="1" dirty="0" smtClean="0"/>
              <a:t>Python</a:t>
            </a:r>
          </a:p>
          <a:p>
            <a:pPr lvl="1">
              <a:lnSpc>
                <a:spcPct val="150000"/>
              </a:lnSpc>
            </a:pPr>
            <a:r>
              <a:rPr lang="en-US" sz="2800" b="1" dirty="0" err="1"/>
              <a:t>Jupyter</a:t>
            </a:r>
            <a:r>
              <a:rPr lang="en-US" sz="2800" b="1" dirty="0"/>
              <a:t> </a:t>
            </a:r>
            <a:r>
              <a:rPr lang="en-US" sz="2800" b="1" dirty="0" smtClean="0"/>
              <a:t>Notebook</a:t>
            </a:r>
            <a:endParaRPr lang="en-US" sz="2800" dirty="0" smtClean="0"/>
          </a:p>
          <a:p>
            <a:pPr lvl="1">
              <a:lnSpc>
                <a:spcPct val="150000"/>
              </a:lnSpc>
            </a:pPr>
            <a:r>
              <a:rPr lang="en-US" sz="2800" b="1" dirty="0" smtClean="0"/>
              <a:t>Pandas</a:t>
            </a:r>
          </a:p>
          <a:p>
            <a:pPr lvl="1">
              <a:lnSpc>
                <a:spcPct val="150000"/>
              </a:lnSpc>
            </a:pPr>
            <a:r>
              <a:rPr lang="en-US" sz="2800" b="1" dirty="0" err="1"/>
              <a:t>NumPy</a:t>
            </a:r>
            <a:endParaRPr lang="en-US" sz="2800" b="1" dirty="0"/>
          </a:p>
          <a:p>
            <a:pPr lvl="1">
              <a:lnSpc>
                <a:spcPct val="150000"/>
              </a:lnSpc>
            </a:pPr>
            <a:r>
              <a:rPr lang="en-US" sz="2800" b="1" dirty="0" err="1" smtClean="0"/>
              <a:t>Matplotlib</a:t>
            </a:r>
            <a:endParaRPr lang="en-US" sz="2800" b="1" dirty="0" smtClean="0"/>
          </a:p>
          <a:p>
            <a:pPr lvl="1">
              <a:lnSpc>
                <a:spcPct val="150000"/>
              </a:lnSpc>
            </a:pPr>
            <a:r>
              <a:rPr lang="en-US" sz="2800" b="1" dirty="0" err="1" smtClean="0"/>
              <a:t>Seaborn</a:t>
            </a:r>
            <a:endParaRPr lang="en-US" sz="2800" b="1" dirty="0" smtClean="0"/>
          </a:p>
          <a:p>
            <a:pPr lvl="1">
              <a:lnSpc>
                <a:spcPct val="150000"/>
              </a:lnSpc>
            </a:pPr>
            <a:r>
              <a:rPr lang="en-US" sz="2800" b="1" dirty="0" err="1" smtClean="0"/>
              <a:t>SciPy</a:t>
            </a:r>
            <a:endParaRPr lang="en-US" sz="2400" b="1" dirty="0"/>
          </a:p>
          <a:p>
            <a:pPr lvl="1">
              <a:lnSpc>
                <a:spcPct val="150000"/>
              </a:lnSpc>
            </a:pPr>
            <a:endParaRPr lang="en-US" sz="2400" b="1" dirty="0" smtClean="0"/>
          </a:p>
          <a:p>
            <a:pPr lvl="1">
              <a:lnSpc>
                <a:spcPct val="150000"/>
              </a:lnSpc>
            </a:pPr>
            <a:endParaRPr lang="en-US" sz="2400" b="1" dirty="0"/>
          </a:p>
          <a:p>
            <a:pPr lvl="1">
              <a:lnSpc>
                <a:spcPct val="150000"/>
              </a:lnSpc>
            </a:pPr>
            <a:endParaRPr lang="en-US" sz="2400" b="1" dirty="0" smtClean="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1000"/>
                                        <p:tgtEl>
                                          <p:spTgt spid="7">
                                            <p:txEl>
                                              <p:pRg st="3" end="3"/>
                                            </p:txEl>
                                          </p:spTgt>
                                        </p:tgtEl>
                                      </p:cBhvr>
                                    </p:animEffect>
                                    <p:anim calcmode="lin" valueType="num">
                                      <p:cBhvr>
                                        <p:cTn id="34"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1000"/>
                                        <p:tgtEl>
                                          <p:spTgt spid="7">
                                            <p:txEl>
                                              <p:pRg st="4" end="4"/>
                                            </p:txEl>
                                          </p:spTgt>
                                        </p:tgtEl>
                                      </p:cBhvr>
                                    </p:animEffect>
                                    <p:anim calcmode="lin" valueType="num">
                                      <p:cBhvr>
                                        <p:cTn id="41"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7">
                                            <p:txEl>
                                              <p:pRg st="5" end="5"/>
                                            </p:txEl>
                                          </p:spTgt>
                                        </p:tgtEl>
                                        <p:attrNameLst>
                                          <p:attrName>style.visibility</p:attrName>
                                        </p:attrNameLst>
                                      </p:cBhvr>
                                      <p:to>
                                        <p:strVal val="visible"/>
                                      </p:to>
                                    </p:set>
                                    <p:animEffect transition="in" filter="fade">
                                      <p:cBhvr>
                                        <p:cTn id="47" dur="1000"/>
                                        <p:tgtEl>
                                          <p:spTgt spid="7">
                                            <p:txEl>
                                              <p:pRg st="5" end="5"/>
                                            </p:txEl>
                                          </p:spTgt>
                                        </p:tgtEl>
                                      </p:cBhvr>
                                    </p:animEffect>
                                    <p:anim calcmode="lin" valueType="num">
                                      <p:cBhvr>
                                        <p:cTn id="4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Effect transition="in" filter="fade">
                                      <p:cBhvr>
                                        <p:cTn id="54" dur="1000"/>
                                        <p:tgtEl>
                                          <p:spTgt spid="7">
                                            <p:txEl>
                                              <p:pRg st="6" end="6"/>
                                            </p:txEl>
                                          </p:spTgt>
                                        </p:tgtEl>
                                      </p:cBhvr>
                                    </p:animEffect>
                                    <p:anim calcmode="lin" valueType="num">
                                      <p:cBhvr>
                                        <p:cTn id="5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675957" y="1201586"/>
            <a:ext cx="7339172" cy="519999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RESULTS</a:t>
            </a:r>
            <a:endParaRPr lang="en-US" dirty="0"/>
          </a:p>
        </p:txBody>
      </p:sp>
      <p:pic>
        <p:nvPicPr>
          <p:cNvPr id="6" name="Picture 5"/>
          <p:cNvPicPr>
            <a:picLocks noChangeAspect="1"/>
          </p:cNvPicPr>
          <p:nvPr/>
        </p:nvPicPr>
        <p:blipFill>
          <a:blip r:embed="rId2"/>
          <a:stretch>
            <a:fillRect/>
          </a:stretch>
        </p:blipFill>
        <p:spPr>
          <a:xfrm>
            <a:off x="660400" y="1560357"/>
            <a:ext cx="8289425" cy="5297643"/>
          </a:xfrm>
          <a:prstGeom prst="rect">
            <a:avLst/>
          </a:prstGeom>
        </p:spPr>
      </p:pic>
    </p:spTree>
    <p:extLst>
      <p:ext uri="{BB962C8B-B14F-4D97-AF65-F5344CB8AC3E}">
        <p14:creationId xmlns:p14="http://schemas.microsoft.com/office/powerpoint/2010/main" val="4243869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438502" y="1201587"/>
            <a:ext cx="7817654" cy="489226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571499" y="1201586"/>
            <a:ext cx="7977851" cy="5141282"/>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614411" y="1494692"/>
            <a:ext cx="9908755" cy="353392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675957" y="1275371"/>
            <a:ext cx="7335219" cy="551053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t>RESULTS</a:t>
            </a:r>
            <a:endParaRPr lang="en-US" dirty="0"/>
          </a:p>
        </p:txBody>
      </p:sp>
      <p:pic>
        <p:nvPicPr>
          <p:cNvPr id="6" name="Picture 5"/>
          <p:cNvPicPr>
            <a:picLocks noChangeAspect="1"/>
          </p:cNvPicPr>
          <p:nvPr/>
        </p:nvPicPr>
        <p:blipFill>
          <a:blip r:embed="rId2"/>
          <a:stretch>
            <a:fillRect/>
          </a:stretch>
        </p:blipFill>
        <p:spPr>
          <a:xfrm>
            <a:off x="660400" y="1723293"/>
            <a:ext cx="7747249" cy="4918888"/>
          </a:xfrm>
          <a:prstGeom prst="rect">
            <a:avLst/>
          </a:prstGeom>
        </p:spPr>
      </p:pic>
    </p:spTree>
    <p:extLst>
      <p:ext uri="{BB962C8B-B14F-4D97-AF65-F5344CB8AC3E}">
        <p14:creationId xmlns:p14="http://schemas.microsoft.com/office/powerpoint/2010/main" val="4047639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60400" y="805213"/>
            <a:ext cx="4105031" cy="671895"/>
          </a:xfrm>
        </p:spPr>
        <p:txBody>
          <a:bodyPr>
            <a:normAutofit fontScale="90000"/>
          </a:bodyPr>
          <a:lstStyle/>
          <a:p>
            <a:r>
              <a:rPr lang="en-US" dirty="0" smtClean="0"/>
              <a:t>RESULTS</a:t>
            </a:r>
            <a:endParaRPr lang="en-US" dirty="0"/>
          </a:p>
        </p:txBody>
      </p:sp>
      <p:pic>
        <p:nvPicPr>
          <p:cNvPr id="7" name="Picture 6"/>
          <p:cNvPicPr>
            <a:picLocks noChangeAspect="1"/>
          </p:cNvPicPr>
          <p:nvPr/>
        </p:nvPicPr>
        <p:blipFill>
          <a:blip r:embed="rId2"/>
          <a:stretch>
            <a:fillRect/>
          </a:stretch>
        </p:blipFill>
        <p:spPr>
          <a:xfrm>
            <a:off x="581269" y="1477108"/>
            <a:ext cx="7859346" cy="5231423"/>
          </a:xfrm>
          <a:prstGeom prst="rect">
            <a:avLst/>
          </a:prstGeom>
        </p:spPr>
      </p:pic>
    </p:spTree>
    <p:extLst>
      <p:ext uri="{BB962C8B-B14F-4D97-AF65-F5344CB8AC3E}">
        <p14:creationId xmlns:p14="http://schemas.microsoft.com/office/powerpoint/2010/main" val="1078219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60399" y="805213"/>
            <a:ext cx="4386385" cy="838949"/>
          </a:xfrm>
        </p:spPr>
        <p:txBody>
          <a:bodyPr>
            <a:normAutofit/>
          </a:bodyPr>
          <a:lstStyle/>
          <a:p>
            <a:r>
              <a:rPr lang="en-IN" sz="4000" dirty="0" smtClean="0"/>
              <a:t>Future </a:t>
            </a:r>
            <a:r>
              <a:rPr lang="en-IN" sz="4000" dirty="0" smtClean="0"/>
              <a:t>scope -</a:t>
            </a:r>
            <a:endParaRPr lang="en-IN" sz="40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4954" y="281355"/>
            <a:ext cx="5539153" cy="3121183"/>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024" y="2154115"/>
            <a:ext cx="5696871" cy="2870689"/>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2538" y="3532680"/>
            <a:ext cx="5556739" cy="3211020"/>
          </a:xfrm>
          <a:prstGeom prst="rect">
            <a:avLst/>
          </a:prstGeom>
        </p:spPr>
      </p:pic>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a:xfrm>
            <a:off x="949569" y="1099038"/>
            <a:ext cx="9355016" cy="5055577"/>
          </a:xfrm>
        </p:spPr>
        <p:txBody>
          <a:bodyPr>
            <a:normAutofit fontScale="92500" lnSpcReduction="20000"/>
          </a:bodyPr>
          <a:lstStyle/>
          <a:p>
            <a:r>
              <a:rPr lang="en-US" b="1" dirty="0"/>
              <a:t>Yield Prediction</a:t>
            </a:r>
            <a:r>
              <a:rPr lang="en-US" dirty="0"/>
              <a:t/>
            </a:r>
            <a:br>
              <a:rPr lang="en-US" dirty="0"/>
            </a:br>
            <a:r>
              <a:rPr lang="en-US" dirty="0"/>
              <a:t>Use weather, soil and past farm data to predict crop yield </a:t>
            </a:r>
            <a:r>
              <a:rPr lang="en-US" sz="1800" dirty="0"/>
              <a:t>earlier</a:t>
            </a:r>
            <a:r>
              <a:rPr lang="en-US" dirty="0" smtClean="0"/>
              <a:t>. </a:t>
            </a:r>
          </a:p>
          <a:p>
            <a:r>
              <a:rPr lang="en-US" b="1" dirty="0"/>
              <a:t>Smart Farming</a:t>
            </a:r>
            <a:r>
              <a:rPr lang="en-US" dirty="0"/>
              <a:t/>
            </a:r>
            <a:br>
              <a:rPr lang="en-US" dirty="0"/>
            </a:br>
            <a:r>
              <a:rPr lang="en-US" dirty="0"/>
              <a:t>Use AI, sensors and digital tools for better farm decisions</a:t>
            </a:r>
            <a:r>
              <a:rPr lang="en-US" dirty="0" smtClean="0"/>
              <a:t>.</a:t>
            </a:r>
          </a:p>
          <a:p>
            <a:r>
              <a:rPr lang="en-US" b="1" dirty="0"/>
              <a:t>Resource Optimization</a:t>
            </a:r>
            <a:r>
              <a:rPr lang="en-US" dirty="0"/>
              <a:t/>
            </a:r>
            <a:br>
              <a:rPr lang="en-US" dirty="0"/>
            </a:br>
            <a:r>
              <a:rPr lang="en-US" dirty="0"/>
              <a:t>Reduce unnecessary water and fertilizer use through smarter planning.</a:t>
            </a:r>
            <a:endParaRPr lang="en-US" dirty="0" smtClean="0"/>
          </a:p>
          <a:p>
            <a:r>
              <a:rPr lang="en-US" b="1" dirty="0"/>
              <a:t>Real-Time Monitoring</a:t>
            </a:r>
            <a:r>
              <a:rPr lang="en-US" dirty="0"/>
              <a:t/>
            </a:r>
            <a:br>
              <a:rPr lang="en-US" dirty="0"/>
            </a:br>
            <a:r>
              <a:rPr lang="en-US" dirty="0"/>
              <a:t>Add sensor and satellite data to monitor crop conditions during the season</a:t>
            </a:r>
            <a:r>
              <a:rPr lang="en-US" dirty="0" smtClean="0"/>
              <a:t>.</a:t>
            </a:r>
          </a:p>
          <a:p>
            <a:r>
              <a:rPr lang="en-US" b="1" dirty="0"/>
              <a:t>Weather-Based Planning</a:t>
            </a:r>
            <a:r>
              <a:rPr lang="en-US" dirty="0"/>
              <a:t/>
            </a:r>
            <a:br>
              <a:rPr lang="en-US" dirty="0"/>
            </a:br>
            <a:r>
              <a:rPr lang="en-US" dirty="0"/>
              <a:t>Use weather and climate information to plan crops according to seasonal conditions.</a:t>
            </a:r>
          </a:p>
          <a:p>
            <a:endParaRPr lang="en-US" dirty="0"/>
          </a:p>
        </p:txBody>
      </p:sp>
      <p:sp>
        <p:nvSpPr>
          <p:cNvPr id="4" name="Title 3"/>
          <p:cNvSpPr>
            <a:spLocks noGrp="1"/>
          </p:cNvSpPr>
          <p:nvPr>
            <p:ph type="title"/>
          </p:nvPr>
        </p:nvSpPr>
        <p:spPr>
          <a:xfrm>
            <a:off x="704362" y="268883"/>
            <a:ext cx="4275138" cy="830997"/>
          </a:xfrm>
        </p:spPr>
        <p:txBody>
          <a:bodyPr>
            <a:normAutofit fontScale="90000"/>
          </a:bodyPr>
          <a:lstStyle/>
          <a:p>
            <a:r>
              <a:rPr lang="en-US" dirty="0" smtClean="0"/>
              <a:t>Future scope -</a:t>
            </a:r>
            <a:endParaRPr lang="en-US" dirty="0"/>
          </a:p>
        </p:txBody>
      </p:sp>
      <p:pic>
        <p:nvPicPr>
          <p:cNvPr id="5" name="Picture 4"/>
          <p:cNvPicPr>
            <a:picLocks noChangeAspect="1"/>
          </p:cNvPicPr>
          <p:nvPr/>
        </p:nvPicPr>
        <p:blipFill>
          <a:blip r:embed="rId2"/>
          <a:stretch>
            <a:fillRect/>
          </a:stretch>
        </p:blipFill>
        <p:spPr>
          <a:xfrm>
            <a:off x="439614" y="6190725"/>
            <a:ext cx="2189283" cy="667275"/>
          </a:xfrm>
          <a:prstGeom prst="rect">
            <a:avLst/>
          </a:prstGeom>
        </p:spPr>
      </p:pic>
    </p:spTree>
    <p:extLst>
      <p:ext uri="{BB962C8B-B14F-4D97-AF65-F5344CB8AC3E}">
        <p14:creationId xmlns:p14="http://schemas.microsoft.com/office/powerpoint/2010/main" val="3948424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6528226"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914400" y="1275370"/>
            <a:ext cx="7482254" cy="239102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000" dirty="0" smtClean="0"/>
          </a:p>
          <a:p>
            <a:endParaRPr lang="en-US" sz="2000" dirty="0"/>
          </a:p>
          <a:p>
            <a:endParaRPr lang="en-GB" sz="2000" dirty="0"/>
          </a:p>
        </p:txBody>
      </p:sp>
      <p:sp>
        <p:nvSpPr>
          <p:cNvPr id="9" name="Text Placeholder 30">
            <a:extLst>
              <a:ext uri="{FF2B5EF4-FFF2-40B4-BE49-F238E27FC236}">
                <a16:creationId xmlns:a16="http://schemas.microsoft.com/office/drawing/2014/main" id="{0F7D0B46-DEEA-1B5E-FE84-59D11F3B1105}"/>
              </a:ext>
            </a:extLst>
          </p:cNvPr>
          <p:cNvSpPr txBox="1">
            <a:spLocks/>
          </p:cNvSpPr>
          <p:nvPr/>
        </p:nvSpPr>
        <p:spPr>
          <a:xfrm>
            <a:off x="1066800" y="1427770"/>
            <a:ext cx="7482254" cy="239102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000" dirty="0" smtClean="0"/>
          </a:p>
          <a:p>
            <a:endParaRPr lang="en-US" sz="2000" dirty="0"/>
          </a:p>
          <a:p>
            <a:endParaRPr lang="en-GB" sz="2000" dirty="0"/>
          </a:p>
        </p:txBody>
      </p:sp>
      <p:sp>
        <p:nvSpPr>
          <p:cNvPr id="2" name="Rectangle 1"/>
          <p:cNvSpPr/>
          <p:nvPr/>
        </p:nvSpPr>
        <p:spPr>
          <a:xfrm>
            <a:off x="893885" y="1690273"/>
            <a:ext cx="6685084" cy="646331"/>
          </a:xfrm>
          <a:prstGeom prst="rect">
            <a:avLst/>
          </a:prstGeom>
        </p:spPr>
        <p:txBody>
          <a:bodyPr wrap="square">
            <a:spAutoFit/>
          </a:bodyPr>
          <a:lstStyle/>
          <a:p>
            <a:r>
              <a:rPr lang="en-US" dirty="0"/>
              <a:t>https://github.com/mohitsahi11/Seasonal-Agriculture-Performance-Analysis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p:cNvPicPr>
            <a:picLocks noChangeAspect="1"/>
          </p:cNvPicPr>
          <p:nvPr/>
        </p:nvPicPr>
        <p:blipFill>
          <a:blip r:embed="rId3"/>
          <a:stretch>
            <a:fillRect/>
          </a:stretch>
        </p:blipFill>
        <p:spPr>
          <a:xfrm>
            <a:off x="551280" y="1635369"/>
            <a:ext cx="8580638" cy="461596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4592516"/>
          </a:xfrm>
          <a:prstGeom prst="rect">
            <a:avLst/>
          </a:prstGeom>
        </p:spPr>
        <p:txBody>
          <a:bodyPr anchor="ctr">
            <a:normAutofit/>
          </a:bodyPr>
          <a:lstStyle/>
          <a:p>
            <a:pPr algn="ctr"/>
            <a:r>
              <a:rPr lang="en-US" sz="4800" b="1" dirty="0">
                <a:solidFill>
                  <a:schemeClr val="tx1"/>
                </a:solidFill>
              </a:rPr>
              <a:t>Thank you</a:t>
            </a:r>
            <a:endParaRPr lang="en-US" sz="60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4623746" y="4129627"/>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infopath/2007/PartnerControls"/>
    <ds:schemaRef ds:uri="http://purl.org/dc/dcmitype/"/>
    <ds:schemaRef ds:uri="http://purl.org/dc/elements/1.1/"/>
    <ds:schemaRef ds:uri="http://purl.org/dc/term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2677</TotalTime>
  <Words>193</Words>
  <Application>Microsoft Office PowerPoint</Application>
  <PresentationFormat>Widescreen</PresentationFormat>
  <Paragraphs>46</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 [This project analyzes agricultural data across different seasons, crops and geographical regions. It focuses on yield, environmental conditions, resource usage and economic performance to identify useful patterns and trends.]  </vt:lpstr>
      <vt:lpstr>WHO ARE THE END USERS?</vt:lpstr>
      <vt:lpstr>Technology Used</vt:lpstr>
      <vt:lpstr>RESULTS </vt:lpstr>
      <vt:lpstr>RESULTS</vt:lpstr>
      <vt:lpstr>RESULTS </vt:lpstr>
      <vt:lpstr>RESULTS </vt:lpstr>
      <vt:lpstr>RESULTS </vt:lpstr>
      <vt:lpstr>RESULTS </vt:lpstr>
      <vt:lpstr>RESULTS</vt:lpstr>
      <vt:lpstr>RESULTS</vt:lpstr>
      <vt:lpstr>Future scope -</vt:lpstr>
      <vt:lpstr>Future scope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123</cp:revision>
  <dcterms:created xsi:type="dcterms:W3CDTF">2021-07-11T13:13:15Z</dcterms:created>
  <dcterms:modified xsi:type="dcterms:W3CDTF">2026-09-11T02:02:22Z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